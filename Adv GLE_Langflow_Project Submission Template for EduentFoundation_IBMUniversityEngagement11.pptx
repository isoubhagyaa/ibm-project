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4C57B0-4D6D-4C9D-B52D-63495F4B72FD}">
  <a:tblStyle styleId="{1F4C57B0-4D6D-4C9D-B52D-63495F4B72F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p:nvPr>
            <p:ph idx="2" type="pic"/>
          </p:nvPr>
        </p:nvSpPr>
        <p:spPr>
          <a:xfrm>
            <a:off x="5183188" y="987425"/>
            <a:ext cx="6172200" cy="4873625"/>
          </a:xfrm>
          <a:prstGeom prst="rect">
            <a:avLst/>
          </a:prstGeom>
          <a:noFill/>
          <a:ln>
            <a:noFill/>
          </a:ln>
        </p:spPr>
      </p:sp>
      <p:sp>
        <p:nvSpPr>
          <p:cNvPr id="58" name="Google Shape;58;p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github.com/isoubhagyaa/ibm-projec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12"/>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13"/>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13"/>
          <p:cNvGraphicFramePr/>
          <p:nvPr/>
        </p:nvGraphicFramePr>
        <p:xfrm>
          <a:off x="1299257" y="2600315"/>
          <a:ext cx="3000000" cy="3000000"/>
        </p:xfrm>
        <a:graphic>
          <a:graphicData uri="http://schemas.openxmlformats.org/drawingml/2006/table">
            <a:tbl>
              <a:tblPr>
                <a:noFill/>
                <a:tableStyleId>{1F4C57B0-4D6D-4C9D-B52D-63495F4B72FD}</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a:t>SOUBHAGYALAKSHMY P</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soubhagyapathirikkattu@gmail.com</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7306659128</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13"/>
          <p:cNvSpPr txBox="1"/>
          <p:nvPr/>
        </p:nvSpPr>
        <p:spPr>
          <a:xfrm>
            <a:off x="1206164" y="1460724"/>
            <a:ext cx="1028025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a:t>
            </a:r>
            <a:r>
              <a:rPr b="1" i="0" lang="en-US" sz="2400" u="none" cap="none" strike="noStrike">
                <a:solidFill>
                  <a:srgbClr val="000000"/>
                </a:solidFill>
                <a:highlight>
                  <a:schemeClr val="lt1"/>
                </a:highlight>
                <a:latin typeface="Arial"/>
                <a:ea typeface="Arial"/>
                <a:cs typeface="Arial"/>
                <a:sym typeface="Arial"/>
              </a:rPr>
              <a:t> [ Healthcare ]</a:t>
            </a:r>
            <a:endParaRPr b="1" i="0" sz="2400" u="none" cap="none" strike="noStrike">
              <a:solidFill>
                <a:srgbClr val="000000"/>
              </a:solidFill>
              <a:highlight>
                <a:schemeClr val="lt1"/>
              </a:highlight>
              <a:latin typeface="Arial"/>
              <a:ea typeface="Arial"/>
              <a:cs typeface="Arial"/>
              <a:sym typeface="Arial"/>
            </a:endParaRPr>
          </a:p>
        </p:txBody>
      </p:sp>
      <p:sp>
        <p:nvSpPr>
          <p:cNvPr id="88" name="Google Shape;88;p13"/>
          <p:cNvSpPr txBox="1"/>
          <p:nvPr/>
        </p:nvSpPr>
        <p:spPr>
          <a:xfrm>
            <a:off x="1206162" y="551965"/>
            <a:ext cx="95811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 </a:t>
            </a:r>
            <a:r>
              <a:rPr b="1" lang="en-US" sz="2400">
                <a:highlight>
                  <a:schemeClr val="lt1"/>
                </a:highlight>
              </a:rPr>
              <a:t>[Nutrition Agent</a:t>
            </a:r>
            <a:r>
              <a:rPr b="1" i="0" lang="en-US" sz="2400" u="none" cap="none" strike="noStrike">
                <a:solidFill>
                  <a:srgbClr val="000000"/>
                </a:solidFill>
                <a:highlight>
                  <a:schemeClr val="lt1"/>
                </a:highlight>
                <a:latin typeface="Arial"/>
                <a:ea typeface="Arial"/>
                <a:cs typeface="Arial"/>
                <a:sym typeface="Arial"/>
              </a:rPr>
              <a:t>]</a:t>
            </a:r>
            <a:endParaRPr b="1" i="0" sz="2400" u="none" cap="none" strike="noStrike">
              <a:solidFill>
                <a:srgbClr val="000000"/>
              </a:solidFill>
              <a:highlight>
                <a:schemeClr val="lt1"/>
              </a:highlight>
              <a:latin typeface="Arial"/>
              <a:ea typeface="Arial"/>
              <a:cs typeface="Arial"/>
              <a:sym typeface="Arial"/>
            </a:endParaRPr>
          </a:p>
        </p:txBody>
      </p:sp>
      <p:sp>
        <p:nvSpPr>
          <p:cNvPr id="89" name="Google Shape;89;p13"/>
          <p:cNvSpPr txBox="1"/>
          <p:nvPr/>
        </p:nvSpPr>
        <p:spPr>
          <a:xfrm>
            <a:off x="1211005" y="5210667"/>
            <a:ext cx="645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pic>
        <p:nvPicPr>
          <p:cNvPr id="90" name="Google Shape;90;p13" title="Screenshot 2026-07-08 104942.png"/>
          <p:cNvPicPr preferRelativeResize="0"/>
          <p:nvPr/>
        </p:nvPicPr>
        <p:blipFill>
          <a:blip r:embed="rId3">
            <a:alphaModFix/>
          </a:blip>
          <a:stretch>
            <a:fillRect/>
          </a:stretch>
        </p:blipFill>
        <p:spPr>
          <a:xfrm>
            <a:off x="4158100" y="3596775"/>
            <a:ext cx="954300" cy="1027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nvSpPr>
        <p:spPr>
          <a:xfrm>
            <a:off x="576072" y="1234440"/>
            <a:ext cx="10607040" cy="50475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Problem Statement : Nutrition Agent</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Challenge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Good nutrition is the foundation of health, but individuals often struggle with </a:t>
            </a:r>
            <a:r>
              <a:rPr b="1" i="0" lang="en-US" sz="1400" u="none" cap="none" strike="noStrike">
                <a:solidFill>
                  <a:srgbClr val="000000"/>
                </a:solidFill>
                <a:latin typeface="Arial"/>
                <a:ea typeface="Arial"/>
                <a:cs typeface="Arial"/>
                <a:sym typeface="Arial"/>
              </a:rPr>
              <a:t>diet planning, portion control, and tracking nutritional intake</a:t>
            </a:r>
            <a:r>
              <a:rPr b="0" i="0" lang="en-US" sz="1400" u="none" cap="none" strike="noStrike">
                <a:solidFill>
                  <a:srgbClr val="000000"/>
                </a:solidFill>
                <a:latin typeface="Arial"/>
                <a:ea typeface="Arial"/>
                <a:cs typeface="Arial"/>
                <a:sym typeface="Arial"/>
              </a:rPr>
              <a:t>. Information about healthy diets, disease-specific nutrition, and food composition is scattered across unreliable sources. Without </a:t>
            </a:r>
            <a:r>
              <a:rPr b="1" i="0" lang="en-US" sz="1400" u="none" cap="none" strike="noStrike">
                <a:solidFill>
                  <a:srgbClr val="000000"/>
                </a:solidFill>
                <a:latin typeface="Arial"/>
                <a:ea typeface="Arial"/>
                <a:cs typeface="Arial"/>
                <a:sym typeface="Arial"/>
              </a:rPr>
              <a:t>personalized, real-time guidance</a:t>
            </a:r>
            <a:r>
              <a:rPr b="0" i="0" lang="en-US" sz="1400" u="none" cap="none" strike="noStrike">
                <a:solidFill>
                  <a:srgbClr val="000000"/>
                </a:solidFill>
                <a:latin typeface="Arial"/>
                <a:ea typeface="Arial"/>
                <a:cs typeface="Arial"/>
                <a:sym typeface="Arial"/>
              </a:rPr>
              <a:t>, many fail to maintain balanced diets or make informed food choices.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Objective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Build an </a:t>
            </a:r>
            <a:r>
              <a:rPr b="1" i="0" lang="en-US" sz="1400" u="none" cap="none" strike="noStrike">
                <a:solidFill>
                  <a:srgbClr val="000000"/>
                </a:solidFill>
                <a:latin typeface="Arial"/>
                <a:ea typeface="Arial"/>
                <a:cs typeface="Arial"/>
                <a:sym typeface="Arial"/>
              </a:rPr>
              <a:t>AI-powered Nutrition Agent</a:t>
            </a:r>
            <a:r>
              <a:rPr b="0" i="0" lang="en-US" sz="1400" u="none" cap="none" strike="noStrike">
                <a:solidFill>
                  <a:srgbClr val="000000"/>
                </a:solidFill>
                <a:latin typeface="Arial"/>
                <a:ea typeface="Arial"/>
                <a:cs typeface="Arial"/>
                <a:sym typeface="Arial"/>
              </a:rPr>
              <a:t> that delivers </a:t>
            </a:r>
            <a:r>
              <a:rPr b="1" i="0" lang="en-US" sz="1400" u="none" cap="none" strike="noStrike">
                <a:solidFill>
                  <a:srgbClr val="000000"/>
                </a:solidFill>
                <a:latin typeface="Arial"/>
                <a:ea typeface="Arial"/>
                <a:cs typeface="Arial"/>
                <a:sym typeface="Arial"/>
              </a:rPr>
              <a:t>personalized dietary insights and guidance</a:t>
            </a:r>
            <a:r>
              <a:rPr b="0" i="0" lang="en-US" sz="1400" u="none" cap="none" strike="noStrike">
                <a:solidFill>
                  <a:srgbClr val="000000"/>
                </a:solidFill>
                <a:latin typeface="Arial"/>
                <a:ea typeface="Arial"/>
                <a:cs typeface="Arial"/>
                <a:sym typeface="Arial"/>
              </a:rPr>
              <a:t> for individuals, families, and health professionals. The solution should: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Personalized Diet Plans</a:t>
            </a:r>
            <a:r>
              <a:rPr b="0" i="0" lang="en-US" sz="1400" u="none" cap="none" strike="noStrike">
                <a:solidFill>
                  <a:srgbClr val="000000"/>
                </a:solidFill>
                <a:latin typeface="Arial"/>
                <a:ea typeface="Arial"/>
                <a:cs typeface="Arial"/>
                <a:sym typeface="Arial"/>
              </a:rPr>
              <a:t> – Recommend meals based on age, health conditions, allergies, cultural preferences, and fitness goals.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Data RAG Retrieval</a:t>
            </a:r>
            <a:r>
              <a:rPr b="0" i="0" lang="en-US" sz="1400" u="none" cap="none" strike="noStrike">
                <a:solidFill>
                  <a:srgbClr val="000000"/>
                </a:solidFill>
                <a:latin typeface="Arial"/>
                <a:ea typeface="Arial"/>
                <a:cs typeface="Arial"/>
                <a:sym typeface="Arial"/>
              </a:rPr>
              <a:t> – Fetch and summarize nutritional values (calories, macros, vitamins) from reliable sources.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Tracking &amp; Feedback</a:t>
            </a:r>
            <a:r>
              <a:rPr b="0" i="0" lang="en-US" sz="1400" u="none" cap="none" strike="noStrike">
                <a:solidFill>
                  <a:srgbClr val="000000"/>
                </a:solidFill>
                <a:latin typeface="Arial"/>
                <a:ea typeface="Arial"/>
                <a:cs typeface="Arial"/>
                <a:sym typeface="Arial"/>
              </a:rPr>
              <a:t> – Allow users to log meals via text, images, or voice, and provide instant nutritional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Preventive Health Focus</a:t>
            </a:r>
            <a:r>
              <a:rPr b="0" i="0" lang="en-US" sz="1400" u="none" cap="none" strike="noStrike">
                <a:solidFill>
                  <a:srgbClr val="000000"/>
                </a:solidFill>
                <a:latin typeface="Arial"/>
                <a:ea typeface="Arial"/>
                <a:cs typeface="Arial"/>
                <a:sym typeface="Arial"/>
              </a:rPr>
              <a:t> – Suggest diets for chronic disease management (e.g., diabetes-friendly or heart-healthy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Multi-Agent System</a:t>
            </a:r>
            <a:r>
              <a:rPr b="0" i="0" lang="en-US" sz="1400" u="none" cap="none" strike="noStrike">
                <a:solidFill>
                  <a:srgbClr val="000000"/>
                </a:solidFill>
                <a:latin typeface="Arial"/>
                <a:ea typeface="Arial"/>
                <a:cs typeface="Arial"/>
                <a:sym typeface="Arial"/>
              </a:rPr>
              <a:t> –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(fetches nutritional data)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(personalized meal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(preventive health suggestions)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(meal tracking +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Visualization Dashboard</a:t>
            </a:r>
            <a:r>
              <a:rPr b="0" i="0" lang="en-US" sz="1400" u="none" cap="none" strike="noStrike">
                <a:solidFill>
                  <a:srgbClr val="000000"/>
                </a:solidFill>
                <a:latin typeface="Arial"/>
                <a:ea typeface="Arial"/>
                <a:cs typeface="Arial"/>
                <a:sym typeface="Arial"/>
              </a:rPr>
              <a:t> – Show daily/weekly nutrient intake, deficiencies, and progress toward health goals.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 name="Google Shape;96;p1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nvSpPr>
        <p:spPr>
          <a:xfrm>
            <a:off x="576072" y="1234440"/>
            <a:ext cx="10607040"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Proposed Solution: AI-Powered Nutrition Agent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proposed solution is a </a:t>
            </a:r>
            <a:r>
              <a:rPr b="1" i="0" lang="en-US" sz="1400" u="none" cap="none" strike="noStrike">
                <a:solidFill>
                  <a:srgbClr val="000000"/>
                </a:solidFill>
                <a:latin typeface="Arial"/>
                <a:ea typeface="Arial"/>
                <a:cs typeface="Arial"/>
                <a:sym typeface="Arial"/>
              </a:rPr>
              <a:t>multi-agent AI-powered Nutrition Agent</a:t>
            </a:r>
            <a:r>
              <a:rPr b="0" i="0" lang="en-US" sz="1400" u="none" cap="none" strike="noStrike">
                <a:solidFill>
                  <a:srgbClr val="000000"/>
                </a:solidFill>
                <a:latin typeface="Arial"/>
                <a:ea typeface="Arial"/>
                <a:cs typeface="Arial"/>
                <a:sym typeface="Arial"/>
              </a:rPr>
              <a:t> built using </a:t>
            </a:r>
            <a:r>
              <a:rPr b="1" i="0" lang="en-US" sz="1400" u="none" cap="none" strike="noStrike">
                <a:solidFill>
                  <a:srgbClr val="000000"/>
                </a:solidFill>
                <a:latin typeface="Arial"/>
                <a:ea typeface="Arial"/>
                <a:cs typeface="Arial"/>
                <a:sym typeface="Arial"/>
              </a:rPr>
              <a:t>LangFlow, IBM watsonx.ai, and Granite Models</a:t>
            </a:r>
            <a:r>
              <a:rPr b="0" i="0" lang="en-US" sz="1400" u="none" cap="none" strike="noStrike">
                <a:solidFill>
                  <a:srgbClr val="000000"/>
                </a:solidFill>
                <a:latin typeface="Arial"/>
                <a:ea typeface="Arial"/>
                <a:cs typeface="Arial"/>
                <a:sym typeface="Arial"/>
              </a:rPr>
              <a:t> to provide personalized, real-time dietary guidance. The system addresses challenges in diet planning, nutrition tracking, and preventive healthcare through an intelligent, modular architecture.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its core, the solution uses a </a:t>
            </a:r>
            <a:r>
              <a:rPr b="1" i="0" lang="en-US" sz="1400" u="none" cap="none" strike="noStrike">
                <a:solidFill>
                  <a:srgbClr val="000000"/>
                </a:solidFill>
                <a:latin typeface="Arial"/>
                <a:ea typeface="Arial"/>
                <a:cs typeface="Arial"/>
                <a:sym typeface="Arial"/>
              </a:rPr>
              <a:t>Retrieval-Augmented Generation (RAG)</a:t>
            </a:r>
            <a:r>
              <a:rPr b="0" i="0" lang="en-US" sz="1400" u="none" cap="none" strike="noStrike">
                <a:solidFill>
                  <a:srgbClr val="000000"/>
                </a:solidFill>
                <a:latin typeface="Arial"/>
                <a:ea typeface="Arial"/>
                <a:cs typeface="Arial"/>
                <a:sym typeface="Arial"/>
              </a:rPr>
              <a:t> pipeline to fetch accurate nutritional data from trusted sources such as USDA and WHO datasets. This data is embedded and stored in a vector database, enabling the system to retrieve and summarize food nutrition details (calories, macros, vitamins) using Granite models.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system consists of four key agents:</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retrieves and summarizes nutritional information using RAG.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generates personalized meal plans based on user inputs such as age, health conditions, dietary preferences, and fitness goals.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provides preventive health suggestions, including disease-specific diets (e.g., diabetes-friendly or heart-healthy plans).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allows users to log meals via text, voice, or images and delivers instant nutritional analysis with actionable feedback.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solution includes a </a:t>
            </a:r>
            <a:r>
              <a:rPr b="1" i="0" lang="en-US" sz="1400" u="none" cap="none" strike="noStrike">
                <a:solidFill>
                  <a:srgbClr val="000000"/>
                </a:solidFill>
                <a:latin typeface="Arial"/>
                <a:ea typeface="Arial"/>
                <a:cs typeface="Arial"/>
                <a:sym typeface="Arial"/>
              </a:rPr>
              <a:t>user-friendly dashboard</a:t>
            </a:r>
            <a:r>
              <a:rPr b="0" i="0" lang="en-US" sz="1400" u="none" cap="none" strike="noStrike">
                <a:solidFill>
                  <a:srgbClr val="000000"/>
                </a:solidFill>
                <a:latin typeface="Arial"/>
                <a:ea typeface="Arial"/>
                <a:cs typeface="Arial"/>
                <a:sym typeface="Arial"/>
              </a:rPr>
              <a:t> (built with Streamlit or React) that visualizes daily and weekly nutrient intake, highlights deficiencies, and tracks progress toward health goals.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LangFlow is used to orchestrate agent workflows, while watsonx.ai ensures scalable model deployment, embeddings, and AI governance. Granite models power reasoning, summarization, and personalization.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this solution delivers an </a:t>
            </a:r>
            <a:r>
              <a:rPr b="1" i="0" lang="en-US" sz="1400" u="none" cap="none" strike="noStrike">
                <a:solidFill>
                  <a:srgbClr val="000000"/>
                </a:solidFill>
                <a:latin typeface="Arial"/>
                <a:ea typeface="Arial"/>
                <a:cs typeface="Arial"/>
                <a:sym typeface="Arial"/>
              </a:rPr>
              <a:t>end-to-end intelligent nutrition assistant</a:t>
            </a:r>
            <a:r>
              <a:rPr b="0" i="0" lang="en-US" sz="1400" u="none" cap="none" strike="noStrike">
                <a:solidFill>
                  <a:srgbClr val="000000"/>
                </a:solidFill>
                <a:latin typeface="Arial"/>
                <a:ea typeface="Arial"/>
                <a:cs typeface="Arial"/>
                <a:sym typeface="Arial"/>
              </a:rPr>
              <a:t> that promotes healthier lifestyles through personalized insights, real-time feedback, and preventive healthcare recommendations.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 name="Google Shape;102;p1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8" name="Google Shape;108;p16"/>
          <p:cNvSpPr txBox="1"/>
          <p:nvPr/>
        </p:nvSpPr>
        <p:spPr>
          <a:xfrm>
            <a:off x="777240" y="1207008"/>
            <a:ext cx="10515600" cy="550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Langflow platform </a:t>
            </a:r>
            <a:r>
              <a:rPr b="0" i="0" lang="en-US" sz="1800" u="none" cap="none" strike="noStrike">
                <a:solidFill>
                  <a:srgbClr val="000000"/>
                </a:solidFill>
                <a:latin typeface="Arial"/>
                <a:ea typeface="Arial"/>
                <a:cs typeface="Arial"/>
                <a:sym typeface="Arial"/>
              </a:rPr>
              <a:t>-For designing and orchestrating multi-agent workflows visually</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Granite model </a:t>
            </a:r>
            <a:r>
              <a:rPr b="0" i="0" lang="en-US" sz="1800" u="none" cap="none" strike="noStrike">
                <a:solidFill>
                  <a:srgbClr val="000000"/>
                </a:solidFill>
                <a:latin typeface="Arial"/>
                <a:ea typeface="Arial"/>
                <a:cs typeface="Arial"/>
                <a:sym typeface="Arial"/>
              </a:rPr>
              <a:t>-  for eg – ibm-granite-3-2-8b – For natural language understanding, reasoning, and personalization</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Cloud </a:t>
            </a:r>
            <a:r>
              <a:rPr b="0" i="0" lang="en-US" sz="1800" u="none" cap="none" strike="noStrike">
                <a:solidFill>
                  <a:srgbClr val="000000"/>
                </a:solidFill>
                <a:latin typeface="Arial"/>
                <a:ea typeface="Arial"/>
                <a:cs typeface="Arial"/>
                <a:sym typeface="Arial"/>
              </a:rPr>
              <a:t>– It provides the infrastructure to build, deploy, and scale the Nutrition Agent efficiently. IBM Cloud enables a </a:t>
            </a:r>
            <a:r>
              <a:rPr b="1" i="0" lang="en-US" sz="1800" u="none" cap="none" strike="noStrike">
                <a:solidFill>
                  <a:srgbClr val="000000"/>
                </a:solidFill>
                <a:latin typeface="Arial"/>
                <a:ea typeface="Arial"/>
                <a:cs typeface="Arial"/>
                <a:sym typeface="Arial"/>
              </a:rPr>
              <a:t>reliable, secure, and scalable environment</a:t>
            </a:r>
            <a:r>
              <a:rPr b="0" i="0" lang="en-US" sz="1800" u="none" cap="none" strike="noStrike">
                <a:solidFill>
                  <a:srgbClr val="000000"/>
                </a:solidFill>
                <a:latin typeface="Arial"/>
                <a:ea typeface="Arial"/>
                <a:cs typeface="Arial"/>
                <a:sym typeface="Arial"/>
              </a:rPr>
              <a:t> for deploying the Nutrition Agent.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RAG– </a:t>
            </a:r>
            <a:r>
              <a:rPr b="0" i="0" lang="en-US" sz="1800" u="none" cap="none" strike="noStrike">
                <a:solidFill>
                  <a:srgbClr val="000000"/>
                </a:solidFill>
                <a:latin typeface="Arial"/>
                <a:ea typeface="Arial"/>
                <a:cs typeface="Arial"/>
                <a:sym typeface="Arial"/>
              </a:rPr>
              <a:t>RAG to </a:t>
            </a:r>
            <a:r>
              <a:rPr b="1" i="0" lang="en-US" sz="1800" u="none" cap="none" strike="noStrike">
                <a:solidFill>
                  <a:srgbClr val="000000"/>
                </a:solidFill>
                <a:latin typeface="Arial"/>
                <a:ea typeface="Arial"/>
                <a:cs typeface="Arial"/>
                <a:sym typeface="Arial"/>
              </a:rPr>
              <a:t>fetch real data first, then generate intelligent answers</a:t>
            </a:r>
            <a:r>
              <a:rPr b="0" i="0" lang="en-US" sz="1800" u="none" cap="none" strike="noStrike">
                <a:solidFill>
                  <a:srgbClr val="000000"/>
                </a:solidFill>
                <a:latin typeface="Arial"/>
                <a:ea typeface="Arial"/>
                <a:cs typeface="Arial"/>
                <a:sym typeface="Arial"/>
              </a:rPr>
              <a:t>, making the Nutrition Agent more trustworthy and effective.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Watsonx.ai - </a:t>
            </a:r>
            <a:r>
              <a:rPr b="0" i="0" lang="en-US" sz="1800" u="none" cap="none" strike="noStrike">
                <a:solidFill>
                  <a:srgbClr val="000000"/>
                </a:solidFill>
                <a:latin typeface="Arial"/>
                <a:ea typeface="Arial"/>
                <a:cs typeface="Arial"/>
                <a:sym typeface="Arial"/>
              </a:rPr>
              <a:t>For model deployment, embeddings, and AI governance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Vector Database </a:t>
            </a:r>
            <a:r>
              <a:rPr b="0" i="0" lang="en-US" sz="1800" u="none" cap="none" strike="noStrike">
                <a:solidFill>
                  <a:srgbClr val="000000"/>
                </a:solidFill>
                <a:latin typeface="Arial"/>
                <a:ea typeface="Arial"/>
                <a:cs typeface="Arial"/>
                <a:sym typeface="Arial"/>
              </a:rPr>
              <a:t>(FAISS/Chroma) – For RAG-based nutritional data retrieval</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Langflow</a:t>
            </a: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00000"/>
                </a:solidFill>
                <a:latin typeface="Arial"/>
                <a:ea typeface="Arial"/>
                <a:cs typeface="Arial"/>
                <a:sym typeface="Arial"/>
              </a:rPr>
              <a:t>component Used -</a:t>
            </a:r>
            <a:endParaRPr b="1" i="0" sz="2400" u="none" cap="none" strike="noStrike">
              <a:solidFill>
                <a:srgbClr val="000000"/>
              </a:solidFill>
              <a:latin typeface="Arial"/>
              <a:ea typeface="Arial"/>
              <a:cs typeface="Arial"/>
              <a:sym typeface="Arial"/>
            </a:endParaRPr>
          </a:p>
        </p:txBody>
      </p:sp>
      <p:sp>
        <p:nvSpPr>
          <p:cNvPr id="114" name="Google Shape;114;p1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1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1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1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1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1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0" name="Google Shape;120;p17"/>
          <p:cNvSpPr txBox="1"/>
          <p:nvPr/>
        </p:nvSpPr>
        <p:spPr>
          <a:xfrm>
            <a:off x="474822" y="863187"/>
            <a:ext cx="8823900" cy="483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1) Chat Input </a:t>
            </a:r>
            <a:r>
              <a:rPr b="0" i="0" lang="en-US" sz="1400" u="none" cap="none" strike="noStrike">
                <a:solidFill>
                  <a:srgbClr val="000000"/>
                </a:solidFill>
                <a:latin typeface="Arial"/>
                <a:ea typeface="Arial"/>
                <a:cs typeface="Arial"/>
                <a:sym typeface="Arial"/>
              </a:rPr>
              <a:t>– Interface where users enter their queries, preferences, or meal details (text/voice/image).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2) IBM watsonx AI Agent </a:t>
            </a:r>
            <a:r>
              <a:rPr b="0" i="0" lang="en-US" sz="1400" u="none" cap="none" strike="noStrike">
                <a:solidFill>
                  <a:srgbClr val="000000"/>
                </a:solidFill>
                <a:latin typeface="Arial"/>
                <a:ea typeface="Arial"/>
                <a:cs typeface="Arial"/>
                <a:sym typeface="Arial"/>
              </a:rPr>
              <a:t>- Processes user input using Granite models to generate personalized nutrition insights and recommendations.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3) Name of IBM Granite model - </a:t>
            </a:r>
            <a:r>
              <a:rPr b="0" i="0" lang="en-US" sz="1400" u="none" cap="none" strike="noStrike">
                <a:solidFill>
                  <a:srgbClr val="000000"/>
                </a:solidFill>
                <a:latin typeface="Arial"/>
                <a:ea typeface="Arial"/>
                <a:cs typeface="Arial"/>
                <a:sym typeface="Arial"/>
              </a:rPr>
              <a:t>Granite-4.0-8B-Instruct → Fast, efficient for real-time diet recommendations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4) Chat output -</a:t>
            </a:r>
            <a:r>
              <a:rPr b="0" i="0" lang="en-US" sz="1400" u="none" cap="none" strike="noStrike">
                <a:solidFill>
                  <a:srgbClr val="000000"/>
                </a:solidFill>
                <a:latin typeface="Arial"/>
                <a:ea typeface="Arial"/>
                <a:cs typeface="Arial"/>
                <a:sym typeface="Arial"/>
              </a:rPr>
              <a:t>Displays AI-generated responses such as diet plans, nutritional analysis, and health suggestions.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5)</a:t>
            </a:r>
            <a:r>
              <a:rPr b="1" i="0" lang="en-US" sz="1400" u="none" cap="none" strike="noStrike">
                <a:solidFill>
                  <a:srgbClr val="000000"/>
                </a:solidFill>
                <a:highlight>
                  <a:schemeClr val="lt1"/>
                </a:highlight>
                <a:latin typeface="Arial"/>
                <a:ea typeface="Arial"/>
                <a:cs typeface="Arial"/>
                <a:sym typeface="Arial"/>
              </a:rPr>
              <a:t> File component - </a:t>
            </a:r>
            <a:r>
              <a:rPr b="0" i="0" lang="en-US" sz="1400" u="none" cap="none" strike="noStrike">
                <a:solidFill>
                  <a:srgbClr val="000000"/>
                </a:solidFill>
                <a:highlight>
                  <a:schemeClr val="lt1"/>
                </a:highlight>
                <a:latin typeface="Arial"/>
                <a:ea typeface="Arial"/>
                <a:cs typeface="Arial"/>
                <a:sym typeface="Arial"/>
              </a:rPr>
              <a:t>Stores and retrieves user data, meal logs, and nutritional datasets for analysis and tracking.</a:t>
            </a:r>
            <a:endParaRPr>
              <a:highlight>
                <a:schemeClr val="lt1"/>
              </a:highlight>
            </a:endParaRPr>
          </a:p>
          <a:p>
            <a:pPr indent="0" lvl="0" marL="0" marR="0" rtl="0" algn="l">
              <a:lnSpc>
                <a:spcPct val="100000"/>
              </a:lnSpc>
              <a:spcBef>
                <a:spcPts val="0"/>
              </a:spcBef>
              <a:spcAft>
                <a:spcPts val="0"/>
              </a:spcAft>
              <a:buNone/>
            </a:pPr>
            <a:r>
              <a:t/>
            </a:r>
            <a:endParaRPr>
              <a:highlight>
                <a:schemeClr val="lt1"/>
              </a:highlight>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18"/>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26" name="Google Shape;126;p18"/>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27" name="Google Shape;127;p18"/>
          <p:cNvSpPr txBox="1"/>
          <p:nvPr/>
        </p:nvSpPr>
        <p:spPr>
          <a:xfrm>
            <a:off x="621792" y="1167493"/>
            <a:ext cx="7406640"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Role of Agentic AI in Nutrition Agent</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Agentic AI</a:t>
            </a:r>
            <a:r>
              <a:rPr b="0" i="0" lang="en-US" sz="1400" u="none" cap="none" strike="noStrike">
                <a:solidFill>
                  <a:srgbClr val="000000"/>
                </a:solidFill>
                <a:latin typeface="Arial"/>
                <a:ea typeface="Arial"/>
                <a:cs typeface="Arial"/>
                <a:sym typeface="Arial"/>
              </a:rPr>
              <a:t> enables the Nutrition Agent to function as an intelligent, autonomous system rather than a simple chatbot. Using </a:t>
            </a:r>
            <a:r>
              <a:rPr b="1" i="0" lang="en-US" sz="1400" u="none" cap="none" strike="noStrike">
                <a:solidFill>
                  <a:srgbClr val="000000"/>
                </a:solidFill>
                <a:latin typeface="Arial"/>
                <a:ea typeface="Arial"/>
                <a:cs typeface="Arial"/>
                <a:sym typeface="Arial"/>
              </a:rPr>
              <a:t>IBM watsonx.ai</a:t>
            </a:r>
            <a:r>
              <a:rPr b="0" i="0" lang="en-US" sz="1400" u="none" cap="none" strike="noStrike">
                <a:solidFill>
                  <a:srgbClr val="000000"/>
                </a:solidFill>
                <a:latin typeface="Arial"/>
                <a:ea typeface="Arial"/>
                <a:cs typeface="Arial"/>
                <a:sym typeface="Arial"/>
              </a:rPr>
              <a:t> and </a:t>
            </a:r>
            <a:r>
              <a:rPr b="1" i="0" lang="en-US" sz="1400" u="none" cap="none" strike="noStrike">
                <a:solidFill>
                  <a:srgbClr val="000000"/>
                </a:solidFill>
                <a:latin typeface="Arial"/>
                <a:ea typeface="Arial"/>
                <a:cs typeface="Arial"/>
                <a:sym typeface="Arial"/>
              </a:rPr>
              <a:t>IBM Granite models</a:t>
            </a:r>
            <a:r>
              <a:rPr b="0" i="0" lang="en-US" sz="1400" u="none" cap="none" strike="noStrike">
                <a:solidFill>
                  <a:srgbClr val="000000"/>
                </a:solidFill>
                <a:latin typeface="Arial"/>
                <a:ea typeface="Arial"/>
                <a:cs typeface="Arial"/>
                <a:sym typeface="Arial"/>
              </a:rPr>
              <a:t>, it coordinates multiple specialized agents to deliver personalized nutrition guidance.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Each agent performs a specific role—such as retrieving nutritional data, generating diet plans, providing health advice, and analyzing food logs—while working collaboratively. This </a:t>
            </a:r>
            <a:r>
              <a:rPr b="1" i="0" lang="en-US" sz="1400" u="none" cap="none" strike="noStrike">
                <a:solidFill>
                  <a:srgbClr val="000000"/>
                </a:solidFill>
                <a:latin typeface="Arial"/>
                <a:ea typeface="Arial"/>
                <a:cs typeface="Arial"/>
                <a:sym typeface="Arial"/>
              </a:rPr>
              <a:t>multi-agent approach</a:t>
            </a:r>
            <a:r>
              <a:rPr b="0" i="0" lang="en-US" sz="1400" u="none" cap="none" strike="noStrike">
                <a:solidFill>
                  <a:srgbClr val="000000"/>
                </a:solidFill>
                <a:latin typeface="Arial"/>
                <a:ea typeface="Arial"/>
                <a:cs typeface="Arial"/>
                <a:sym typeface="Arial"/>
              </a:rPr>
              <a:t> ensures efficient task execution and accurate results.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Agentic AI also brings </a:t>
            </a:r>
            <a:r>
              <a:rPr b="1" i="0" lang="en-US" sz="1400" u="none" cap="none" strike="noStrike">
                <a:solidFill>
                  <a:srgbClr val="000000"/>
                </a:solidFill>
                <a:latin typeface="Arial"/>
                <a:ea typeface="Arial"/>
                <a:cs typeface="Arial"/>
                <a:sym typeface="Arial"/>
              </a:rPr>
              <a:t>context awareness</a:t>
            </a:r>
            <a:r>
              <a:rPr b="0" i="0" lang="en-US" sz="1400" u="none" cap="none" strike="noStrike">
                <a:solidFill>
                  <a:srgbClr val="000000"/>
                </a:solidFill>
                <a:latin typeface="Arial"/>
                <a:ea typeface="Arial"/>
                <a:cs typeface="Arial"/>
                <a:sym typeface="Arial"/>
              </a:rPr>
              <a:t>, understanding user details like age, health conditions, and fitness goals to generate tailored recommendations. It supports </a:t>
            </a:r>
            <a:r>
              <a:rPr b="1" i="0" lang="en-US" sz="1400" u="none" cap="none" strike="noStrike">
                <a:solidFill>
                  <a:srgbClr val="000000"/>
                </a:solidFill>
                <a:latin typeface="Arial"/>
                <a:ea typeface="Arial"/>
                <a:cs typeface="Arial"/>
                <a:sym typeface="Arial"/>
              </a:rPr>
              <a:t>real-time adaptation</a:t>
            </a:r>
            <a:r>
              <a:rPr b="0" i="0" lang="en-US" sz="1400" u="none" cap="none" strike="noStrike">
                <a:solidFill>
                  <a:srgbClr val="000000"/>
                </a:solidFill>
                <a:latin typeface="Arial"/>
                <a:ea typeface="Arial"/>
                <a:cs typeface="Arial"/>
                <a:sym typeface="Arial"/>
              </a:rPr>
              <a:t>, continuously updating suggestions based on user inputs like daily meals.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Additionally, agents communicate with each other, enabling better decision-making and improved outcomes.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Agentic AI makes the system proactive, personalized, and goal-driven, acting like a </a:t>
            </a:r>
            <a:r>
              <a:rPr b="1" i="0" lang="en-US" sz="1400" u="none" cap="none" strike="noStrike">
                <a:solidFill>
                  <a:srgbClr val="000000"/>
                </a:solidFill>
                <a:latin typeface="Arial"/>
                <a:ea typeface="Arial"/>
                <a:cs typeface="Arial"/>
                <a:sym typeface="Arial"/>
              </a:rPr>
              <a:t>smart digital nutritionist</a:t>
            </a:r>
            <a:r>
              <a:rPr b="0" i="0" lang="en-US" sz="1400" u="none" cap="none" strike="noStrike">
                <a:solidFill>
                  <a:srgbClr val="000000"/>
                </a:solidFill>
                <a:latin typeface="Arial"/>
                <a:ea typeface="Arial"/>
                <a:cs typeface="Arial"/>
                <a:sym typeface="Arial"/>
              </a:rPr>
              <a:t> that helps users maintain a healthy lifestyle.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33" name="Google Shape;133;p19"/>
          <p:cNvSpPr txBox="1"/>
          <p:nvPr/>
        </p:nvSpPr>
        <p:spPr>
          <a:xfrm>
            <a:off x="777240" y="1207008"/>
            <a:ext cx="11301984" cy="52937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The proposed Nutrition Agent stands out by combining </a:t>
            </a:r>
            <a:r>
              <a:rPr b="1" i="0" lang="en-US" sz="1800" u="none" cap="none" strike="noStrike">
                <a:solidFill>
                  <a:srgbClr val="000000"/>
                </a:solidFill>
                <a:latin typeface="Arial"/>
                <a:ea typeface="Arial"/>
                <a:cs typeface="Arial"/>
                <a:sym typeface="Arial"/>
              </a:rPr>
              <a:t>Agentic AI, RAG, and personalization</a:t>
            </a:r>
            <a:r>
              <a:rPr b="0" i="0" lang="en-US" sz="1800" u="none" cap="none" strike="noStrike">
                <a:solidFill>
                  <a:srgbClr val="000000"/>
                </a:solidFill>
                <a:latin typeface="Arial"/>
                <a:ea typeface="Arial"/>
                <a:cs typeface="Arial"/>
                <a:sym typeface="Arial"/>
              </a:rPr>
              <a:t> into a single intelligent system.</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Multi-Agent Intelligence</a:t>
            </a:r>
            <a:r>
              <a:rPr b="0" i="0" lang="en-US" sz="1800" u="none" cap="none" strike="noStrike">
                <a:solidFill>
                  <a:srgbClr val="000000"/>
                </a:solidFill>
                <a:latin typeface="Arial"/>
                <a:ea typeface="Arial"/>
                <a:cs typeface="Arial"/>
                <a:sym typeface="Arial"/>
              </a:rPr>
              <a:t> – Instead of a single chatbot, multiple specialized agents collaborate to deliver accurate and context-aware nutrition guidance.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RAG-Based Accuracy</a:t>
            </a:r>
            <a:r>
              <a:rPr b="0" i="0" lang="en-US" sz="1800" u="none" cap="none" strike="noStrike">
                <a:solidFill>
                  <a:srgbClr val="000000"/>
                </a:solidFill>
                <a:latin typeface="Arial"/>
                <a:ea typeface="Arial"/>
                <a:cs typeface="Arial"/>
                <a:sym typeface="Arial"/>
              </a:rPr>
              <a:t> – Integrates real-time data retrieval with AI generation, reducing misinformation and ensuring trustworthy recommendations.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Hyper-Personalization</a:t>
            </a:r>
            <a:r>
              <a:rPr b="0" i="0" lang="en-US" sz="1800" u="none" cap="none" strike="noStrike">
                <a:solidFill>
                  <a:srgbClr val="000000"/>
                </a:solidFill>
                <a:latin typeface="Arial"/>
                <a:ea typeface="Arial"/>
                <a:cs typeface="Arial"/>
                <a:sym typeface="Arial"/>
              </a:rPr>
              <a:t> – Tailors diet plans based on health conditions, cultural preferences, and fitness goals.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Real-Time Feedback Loop</a:t>
            </a:r>
            <a:r>
              <a:rPr b="0" i="0" lang="en-US" sz="1800" u="none" cap="none" strike="noStrike">
                <a:solidFill>
                  <a:srgbClr val="000000"/>
                </a:solidFill>
                <a:latin typeface="Arial"/>
                <a:ea typeface="Arial"/>
                <a:cs typeface="Arial"/>
                <a:sym typeface="Arial"/>
              </a:rPr>
              <a:t> – Continuously adapts recommendations based on daily food logs and user behavior.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Multi-Modal Input</a:t>
            </a:r>
            <a:r>
              <a:rPr b="0" i="0" lang="en-US" sz="1800" u="none" cap="none" strike="noStrike">
                <a:solidFill>
                  <a:srgbClr val="000000"/>
                </a:solidFill>
                <a:latin typeface="Arial"/>
                <a:ea typeface="Arial"/>
                <a:cs typeface="Arial"/>
                <a:sym typeface="Arial"/>
              </a:rPr>
              <a:t> – Supports text, voice, and image-based meal tracking for better usability.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Preventive Healthcare Focus</a:t>
            </a:r>
            <a:r>
              <a:rPr b="0" i="0" lang="en-US" sz="1800" u="none" cap="none" strike="noStrike">
                <a:solidFill>
                  <a:srgbClr val="000000"/>
                </a:solidFill>
                <a:latin typeface="Arial"/>
                <a:ea typeface="Arial"/>
                <a:cs typeface="Arial"/>
                <a:sym typeface="Arial"/>
              </a:rPr>
              <a:t> – Goes beyond diet planning to provide disease-specific nutrition advice. </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Scalable &amp; Enterprise-Ready</a:t>
            </a:r>
            <a:r>
              <a:rPr b="0" i="0" lang="en-US" sz="1800" u="none" cap="none" strike="noStrike">
                <a:solidFill>
                  <a:srgbClr val="000000"/>
                </a:solidFill>
                <a:latin typeface="Arial"/>
                <a:ea typeface="Arial"/>
                <a:cs typeface="Arial"/>
                <a:sym typeface="Arial"/>
              </a:rPr>
              <a:t> – Built on </a:t>
            </a:r>
            <a:r>
              <a:rPr b="1" i="0" lang="en-US" sz="1800" u="none" cap="none" strike="noStrike">
                <a:solidFill>
                  <a:srgbClr val="000000"/>
                </a:solidFill>
                <a:latin typeface="Arial"/>
                <a:ea typeface="Arial"/>
                <a:cs typeface="Arial"/>
                <a:sym typeface="Arial"/>
              </a:rPr>
              <a:t>IBM watsonx.ai</a:t>
            </a:r>
            <a:r>
              <a:rPr b="0" i="0" lang="en-US" sz="1800" u="none" cap="none" strike="noStrike">
                <a:solidFill>
                  <a:srgbClr val="000000"/>
                </a:solidFill>
                <a:latin typeface="Arial"/>
                <a:ea typeface="Arial"/>
                <a:cs typeface="Arial"/>
                <a:sym typeface="Arial"/>
              </a:rPr>
              <a:t> with </a:t>
            </a:r>
            <a:r>
              <a:rPr b="1" i="0" lang="en-US" sz="1800" u="none" cap="none" strike="noStrike">
                <a:solidFill>
                  <a:srgbClr val="000000"/>
                </a:solidFill>
                <a:latin typeface="Arial"/>
                <a:ea typeface="Arial"/>
                <a:cs typeface="Arial"/>
                <a:sym typeface="Arial"/>
              </a:rPr>
              <a:t>IBM Granite models</a:t>
            </a:r>
            <a:r>
              <a:rPr b="0" i="0" lang="en-US" sz="1800" u="none" cap="none" strike="noStrike">
                <a:solidFill>
                  <a:srgbClr val="000000"/>
                </a:solidFill>
                <a:latin typeface="Arial"/>
                <a:ea typeface="Arial"/>
                <a:cs typeface="Arial"/>
                <a:sym typeface="Arial"/>
              </a:rPr>
              <a:t>, ensuring reliability and governance. </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This makes the solution a </a:t>
            </a:r>
            <a:r>
              <a:rPr b="1" i="0" lang="en-US" sz="1800" u="none" cap="none" strike="noStrike">
                <a:solidFill>
                  <a:srgbClr val="000000"/>
                </a:solidFill>
                <a:latin typeface="Arial"/>
                <a:ea typeface="Arial"/>
                <a:cs typeface="Arial"/>
                <a:sym typeface="Arial"/>
              </a:rPr>
              <a:t>smart, adaptive, and proactive digital nutritionist</a:t>
            </a:r>
            <a:r>
              <a:rPr b="0" i="0" lang="en-US" sz="1800" u="none" cap="none" strike="noStrike">
                <a:solidFill>
                  <a:srgbClr val="000000"/>
                </a:solidFill>
                <a:latin typeface="Arial"/>
                <a:ea typeface="Arial"/>
                <a:cs typeface="Arial"/>
                <a:sym typeface="Arial"/>
              </a:rPr>
              <a:t>, not just a static diet recommendation tool.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39" name="Google Shape;139;p20"/>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Please create public github repository (Enable Add README  button while creating repository) with format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Please test and Paste the working  Github URL –</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rPr lang="en-US" sz="2400" u="sng">
                <a:solidFill>
                  <a:schemeClr val="hlink"/>
                </a:solidFill>
                <a:hlinkClick r:id="rId3"/>
              </a:rPr>
              <a:t>isoubhagyaa/ibm-project: nutrition agent</a:t>
            </a:r>
            <a:r>
              <a:rPr lang="en-US" sz="2400">
                <a:solidFill>
                  <a:schemeClr val="dk1"/>
                </a:solidFill>
              </a:rPr>
              <a:t> </a:t>
            </a:r>
            <a:endParaRPr sz="315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sz="185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sz="185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None/>
            </a:pPr>
            <a:r>
              <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40" name="Google Shape;140;p20"/>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46" name="Google Shape;146;p21"/>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1.Integration with Wearables &amp; Health Devices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2.AI-Powered Voice Assistant &amp; Multilingual Support </a:t>
            </a:r>
            <a:r>
              <a:rPr b="0" i="0" lang="en-US" sz="1850" u="none" cap="none" strike="noStrike">
                <a:solidFill>
                  <a:srgbClr val="2B3541"/>
                </a:solidFill>
                <a:latin typeface="Times New Roman"/>
                <a:ea typeface="Times New Roman"/>
                <a:cs typeface="Times New Roman"/>
                <a:sym typeface="Times New Roman"/>
              </a:rPr>
              <a:t>–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b="0" i="0" sz="1850" u="none" cap="none" strike="noStrike">
              <a:solidFill>
                <a:srgbClr val="000000"/>
              </a:solidFill>
              <a:latin typeface="Times New Roman"/>
              <a:ea typeface="Times New Roman"/>
              <a:cs typeface="Times New Roman"/>
              <a:sym typeface="Times New Roman"/>
            </a:endParaRPr>
          </a:p>
        </p:txBody>
      </p:sp>
      <p:sp>
        <p:nvSpPr>
          <p:cNvPr id="147" name="Google Shape;147;p2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8" name="Google Shape;148;p2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9" name="Google Shape;149;p2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2"/>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55" name="Google Shape;155;p22" title="Screenshot 2026-07-08 104835.png"/>
          <p:cNvPicPr preferRelativeResize="0"/>
          <p:nvPr/>
        </p:nvPicPr>
        <p:blipFill>
          <a:blip r:embed="rId3">
            <a:alphaModFix/>
          </a:blip>
          <a:stretch>
            <a:fillRect/>
          </a:stretch>
        </p:blipFill>
        <p:spPr>
          <a:xfrm>
            <a:off x="1937359" y="1036888"/>
            <a:ext cx="7486650" cy="5572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 name="Google Shape;161;p23"/>
          <p:cNvSpPr txBox="1"/>
          <p:nvPr/>
        </p:nvSpPr>
        <p:spPr>
          <a:xfrm>
            <a:off x="496843" y="800470"/>
            <a:ext cx="543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pic>
        <p:nvPicPr>
          <p:cNvPr id="162" name="Google Shape;162;p23" title="Screenshot 2026-07-08 104733.png"/>
          <p:cNvPicPr preferRelativeResize="0"/>
          <p:nvPr/>
        </p:nvPicPr>
        <p:blipFill>
          <a:blip r:embed="rId3">
            <a:alphaModFix/>
          </a:blip>
          <a:stretch>
            <a:fillRect/>
          </a:stretch>
        </p:blipFill>
        <p:spPr>
          <a:xfrm>
            <a:off x="1574999" y="817785"/>
            <a:ext cx="8867775" cy="5438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4"/>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